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Chunk Five" panose="020B0604020202020204" charset="0"/>
      <p:regular r:id="rId13"/>
    </p:embeddedFont>
    <p:embeddedFont>
      <p:font typeface="Gagalin" panose="020B0604020202020204" charset="0"/>
      <p:regular r:id="rId14"/>
    </p:embeddedFont>
    <p:embeddedFont>
      <p:font typeface="League Spartan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20B0604020202020204" charset="0"/>
      <p:regular r:id="rId18"/>
    </p:embeddedFont>
    <p:embeddedFont>
      <p:font typeface="Roboto" panose="020000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4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266444" y="1965021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271294" y="2763492"/>
            <a:ext cx="7745411" cy="129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77"/>
              </a:lnSpc>
            </a:pPr>
            <a:r>
              <a:rPr lang="en-US" sz="7555">
                <a:solidFill>
                  <a:srgbClr val="303642"/>
                </a:solidFill>
                <a:latin typeface="Gagalin"/>
                <a:ea typeface="Gagalin"/>
                <a:cs typeface="Gagalin"/>
                <a:sym typeface="Gagalin"/>
              </a:rPr>
              <a:t>DOMYOS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48158" y="6114950"/>
            <a:ext cx="8526827" cy="73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7"/>
              </a:lnSpc>
              <a:spcBef>
                <a:spcPct val="0"/>
              </a:spcBef>
            </a:pPr>
            <a:r>
              <a:rPr lang="en-US" sz="41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Campaign Impact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67703" y="8871693"/>
            <a:ext cx="3351124" cy="10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7"/>
              </a:lnSpc>
            </a:pPr>
            <a:r>
              <a:rPr lang="en-US" sz="3019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Alma-Duc</a:t>
            </a:r>
          </a:p>
          <a:p>
            <a:pPr algn="ctr">
              <a:lnSpc>
                <a:spcPts val="4227"/>
              </a:lnSpc>
            </a:pPr>
            <a:r>
              <a:rPr lang="en-US" sz="3019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Elie-Eswar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872700" y="1471914"/>
            <a:ext cx="2615046" cy="1228203"/>
            <a:chOff x="0" y="0"/>
            <a:chExt cx="922889" cy="433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2889" cy="433451"/>
            </a:xfrm>
            <a:custGeom>
              <a:avLst/>
              <a:gdLst/>
              <a:ahLst/>
              <a:cxnLst/>
              <a:rect l="l" t="t" r="r" b="b"/>
              <a:pathLst>
                <a:path w="922889" h="433451">
                  <a:moveTo>
                    <a:pt x="150987" y="0"/>
                  </a:moveTo>
                  <a:lnTo>
                    <a:pt x="771902" y="0"/>
                  </a:lnTo>
                  <a:cubicBezTo>
                    <a:pt x="811946" y="0"/>
                    <a:pt x="850350" y="15908"/>
                    <a:pt x="878666" y="44223"/>
                  </a:cubicBezTo>
                  <a:cubicBezTo>
                    <a:pt x="906981" y="72539"/>
                    <a:pt x="922889" y="110943"/>
                    <a:pt x="922889" y="150987"/>
                  </a:cubicBezTo>
                  <a:lnTo>
                    <a:pt x="922889" y="282464"/>
                  </a:lnTo>
                  <a:cubicBezTo>
                    <a:pt x="922889" y="322508"/>
                    <a:pt x="906981" y="360912"/>
                    <a:pt x="878666" y="389228"/>
                  </a:cubicBezTo>
                  <a:cubicBezTo>
                    <a:pt x="850350" y="417544"/>
                    <a:pt x="811946" y="433451"/>
                    <a:pt x="771902" y="433451"/>
                  </a:cubicBezTo>
                  <a:lnTo>
                    <a:pt x="150987" y="433451"/>
                  </a:lnTo>
                  <a:cubicBezTo>
                    <a:pt x="110943" y="433451"/>
                    <a:pt x="72539" y="417544"/>
                    <a:pt x="44223" y="389228"/>
                  </a:cubicBezTo>
                  <a:cubicBezTo>
                    <a:pt x="15908" y="360912"/>
                    <a:pt x="0" y="322508"/>
                    <a:pt x="0" y="282464"/>
                  </a:cubicBezTo>
                  <a:lnTo>
                    <a:pt x="0" y="150987"/>
                  </a:lnTo>
                  <a:cubicBezTo>
                    <a:pt x="0" y="110943"/>
                    <a:pt x="15908" y="72539"/>
                    <a:pt x="44223" y="44223"/>
                  </a:cubicBezTo>
                  <a:cubicBezTo>
                    <a:pt x="72539" y="15908"/>
                    <a:pt x="110943" y="0"/>
                    <a:pt x="15098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22889" cy="481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30373" y="4292931"/>
            <a:ext cx="3699698" cy="1157349"/>
            <a:chOff x="0" y="0"/>
            <a:chExt cx="4932931" cy="1543132"/>
          </a:xfrm>
        </p:grpSpPr>
        <p:grpSp>
          <p:nvGrpSpPr>
            <p:cNvPr id="7" name="Group 7"/>
            <p:cNvGrpSpPr/>
            <p:nvPr/>
          </p:nvGrpSpPr>
          <p:grpSpPr>
            <a:xfrm>
              <a:off x="456721" y="0"/>
              <a:ext cx="4031857" cy="1543132"/>
              <a:chOff x="0" y="0"/>
              <a:chExt cx="915290" cy="3503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15290" cy="350314"/>
              </a:xfrm>
              <a:custGeom>
                <a:avLst/>
                <a:gdLst/>
                <a:ahLst/>
                <a:cxnLst/>
                <a:rect l="l" t="t" r="r" b="b"/>
                <a:pathLst>
                  <a:path w="915290" h="350314">
                    <a:moveTo>
                      <a:pt x="123480" y="0"/>
                    </a:moveTo>
                    <a:lnTo>
                      <a:pt x="791810" y="0"/>
                    </a:lnTo>
                    <a:cubicBezTo>
                      <a:pt x="824559" y="0"/>
                      <a:pt x="855967" y="13009"/>
                      <a:pt x="879124" y="36167"/>
                    </a:cubicBezTo>
                    <a:cubicBezTo>
                      <a:pt x="902281" y="59324"/>
                      <a:pt x="915290" y="90731"/>
                      <a:pt x="915290" y="123480"/>
                    </a:cubicBezTo>
                    <a:lnTo>
                      <a:pt x="915290" y="226833"/>
                    </a:lnTo>
                    <a:cubicBezTo>
                      <a:pt x="915290" y="295029"/>
                      <a:pt x="860006" y="350314"/>
                      <a:pt x="791810" y="350314"/>
                    </a:cubicBezTo>
                    <a:lnTo>
                      <a:pt x="123480" y="350314"/>
                    </a:lnTo>
                    <a:cubicBezTo>
                      <a:pt x="55284" y="350314"/>
                      <a:pt x="0" y="295029"/>
                      <a:pt x="0" y="226833"/>
                    </a:cubicBezTo>
                    <a:lnTo>
                      <a:pt x="0" y="123480"/>
                    </a:lnTo>
                    <a:cubicBezTo>
                      <a:pt x="0" y="55284"/>
                      <a:pt x="55284" y="0"/>
                      <a:pt x="123480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915290" cy="3979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378900"/>
              <a:ext cx="4932931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4562"/>
                </a:lnSpc>
                <a:spcBef>
                  <a:spcPct val="0"/>
                </a:spcBef>
              </a:pPr>
              <a:r>
                <a:rPr lang="en-US" sz="3258" b="1" u="none" strike="noStrike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361.46 K</a:t>
              </a:r>
              <a:r>
                <a:rPr lang="en-US" sz="3600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€</a:t>
              </a:r>
              <a:endParaRPr lang="en-US" sz="3258" b="1" u="none" strike="noStrike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330373" y="7197759"/>
            <a:ext cx="3699698" cy="1276223"/>
            <a:chOff x="0" y="0"/>
            <a:chExt cx="4932931" cy="1701631"/>
          </a:xfrm>
        </p:grpSpPr>
        <p:grpSp>
          <p:nvGrpSpPr>
            <p:cNvPr id="12" name="Group 12"/>
            <p:cNvGrpSpPr/>
            <p:nvPr/>
          </p:nvGrpSpPr>
          <p:grpSpPr>
            <a:xfrm>
              <a:off x="1056596" y="0"/>
              <a:ext cx="2807372" cy="1701631"/>
              <a:chOff x="0" y="0"/>
              <a:chExt cx="637314" cy="38629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7314" cy="386295"/>
              </a:xfrm>
              <a:custGeom>
                <a:avLst/>
                <a:gdLst/>
                <a:ahLst/>
                <a:cxnLst/>
                <a:rect l="l" t="t" r="r" b="b"/>
                <a:pathLst>
                  <a:path w="637314" h="386295">
                    <a:moveTo>
                      <a:pt x="177338" y="0"/>
                    </a:moveTo>
                    <a:lnTo>
                      <a:pt x="459976" y="0"/>
                    </a:lnTo>
                    <a:cubicBezTo>
                      <a:pt x="557917" y="0"/>
                      <a:pt x="637314" y="79397"/>
                      <a:pt x="637314" y="177338"/>
                    </a:cubicBezTo>
                    <a:lnTo>
                      <a:pt x="637314" y="208957"/>
                    </a:lnTo>
                    <a:cubicBezTo>
                      <a:pt x="637314" y="306898"/>
                      <a:pt x="557917" y="386295"/>
                      <a:pt x="459976" y="386295"/>
                    </a:cubicBezTo>
                    <a:lnTo>
                      <a:pt x="177338" y="386295"/>
                    </a:lnTo>
                    <a:cubicBezTo>
                      <a:pt x="130305" y="386295"/>
                      <a:pt x="85199" y="367611"/>
                      <a:pt x="51941" y="334354"/>
                    </a:cubicBezTo>
                    <a:cubicBezTo>
                      <a:pt x="18684" y="301096"/>
                      <a:pt x="0" y="255990"/>
                      <a:pt x="0" y="208957"/>
                    </a:cubicBezTo>
                    <a:lnTo>
                      <a:pt x="0" y="177338"/>
                    </a:lnTo>
                    <a:cubicBezTo>
                      <a:pt x="0" y="79397"/>
                      <a:pt x="79397" y="0"/>
                      <a:pt x="177338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637314" cy="433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467603"/>
              <a:ext cx="4932931" cy="757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4562"/>
                </a:lnSpc>
                <a:spcBef>
                  <a:spcPct val="0"/>
                </a:spcBef>
              </a:pPr>
              <a:r>
                <a:rPr lang="en-US" sz="3258" b="1" u="none" strike="noStrike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635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3841432" y="4925108"/>
            <a:ext cx="7865372" cy="95681"/>
            <a:chOff x="0" y="0"/>
            <a:chExt cx="2071538" cy="2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1538" cy="25200"/>
            </a:xfrm>
            <a:custGeom>
              <a:avLst/>
              <a:gdLst/>
              <a:ahLst/>
              <a:cxnLst/>
              <a:rect l="l" t="t" r="r" b="b"/>
              <a:pathLst>
                <a:path w="2071538" h="25200">
                  <a:moveTo>
                    <a:pt x="0" y="0"/>
                  </a:moveTo>
                  <a:lnTo>
                    <a:pt x="2071538" y="0"/>
                  </a:lnTo>
                  <a:lnTo>
                    <a:pt x="2071538" y="25200"/>
                  </a:lnTo>
                  <a:lnTo>
                    <a:pt x="0" y="25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071538" cy="7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9566" y="1196681"/>
            <a:ext cx="5634574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ACHIEVEMENT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9566" y="384553"/>
            <a:ext cx="4842085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93654" y="1782364"/>
            <a:ext cx="3173137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2"/>
              </a:lnSpc>
            </a:pPr>
            <a:r>
              <a:rPr lang="en-US" sz="3258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15.62 K </a:t>
            </a: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€</a:t>
            </a:r>
            <a:endParaRPr lang="en-US" sz="3258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83466" y="1709132"/>
            <a:ext cx="2791800" cy="81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7"/>
              </a:lnSpc>
              <a:spcBef>
                <a:spcPct val="0"/>
              </a:spcBef>
            </a:pPr>
            <a:r>
              <a:rPr lang="en-US" sz="4248">
                <a:solidFill>
                  <a:srgbClr val="004AAD"/>
                </a:solidFill>
                <a:latin typeface="Chunk Five"/>
                <a:ea typeface="Chunk Five"/>
                <a:cs typeface="Chunk Five"/>
                <a:sym typeface="Chunk Five"/>
              </a:rPr>
              <a:t>Net Profit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83466" y="4553474"/>
            <a:ext cx="3182354" cy="81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70"/>
              </a:lnSpc>
              <a:spcBef>
                <a:spcPct val="0"/>
              </a:spcBef>
            </a:pPr>
            <a:r>
              <a:rPr lang="en-US" sz="4264" u="none" strike="noStrike">
                <a:solidFill>
                  <a:srgbClr val="004AAD"/>
                </a:solidFill>
                <a:latin typeface="Chunk Five"/>
                <a:ea typeface="Chunk Five"/>
                <a:cs typeface="Chunk Five"/>
                <a:sym typeface="Chunk Five"/>
              </a:rPr>
              <a:t>Total sales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83466" y="7385802"/>
            <a:ext cx="4591799" cy="151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70"/>
              </a:lnSpc>
              <a:spcBef>
                <a:spcPct val="0"/>
              </a:spcBef>
            </a:pPr>
            <a:r>
              <a:rPr lang="en-US" sz="4264" dirty="0">
                <a:solidFill>
                  <a:srgbClr val="004AAD"/>
                </a:solidFill>
                <a:latin typeface="Chunk Five"/>
                <a:ea typeface="Chunk Five"/>
                <a:cs typeface="Chunk Five"/>
                <a:sym typeface="Chunk Five"/>
              </a:rPr>
              <a:t>New </a:t>
            </a:r>
            <a:r>
              <a:rPr lang="en-US" sz="4264" dirty="0" err="1">
                <a:solidFill>
                  <a:srgbClr val="004AAD"/>
                </a:solidFill>
                <a:latin typeface="Chunk Five"/>
                <a:ea typeface="Chunk Five"/>
                <a:cs typeface="Chunk Five"/>
                <a:sym typeface="Chunk Five"/>
              </a:rPr>
              <a:t>GenZ</a:t>
            </a:r>
            <a:r>
              <a:rPr lang="en-US" sz="4264" dirty="0">
                <a:solidFill>
                  <a:srgbClr val="004AAD"/>
                </a:solidFill>
                <a:latin typeface="Chunk Five"/>
                <a:ea typeface="Chunk Five"/>
                <a:cs typeface="Chunk Five"/>
                <a:sym typeface="Chunk Five"/>
              </a:rPr>
              <a:t> </a:t>
            </a:r>
            <a:r>
              <a:rPr lang="en-US" sz="4264" u="none" strike="noStrike" dirty="0">
                <a:solidFill>
                  <a:srgbClr val="004AAD"/>
                </a:solidFill>
                <a:latin typeface="Chunk Five"/>
                <a:ea typeface="Chunk Five"/>
                <a:cs typeface="Chunk Five"/>
                <a:sym typeface="Chunk Five"/>
              </a:rPr>
              <a:t>population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8617" y="4347333"/>
            <a:ext cx="5645611" cy="62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budget= 30K €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45340" y="6601373"/>
            <a:ext cx="4825445" cy="1337320"/>
            <a:chOff x="0" y="0"/>
            <a:chExt cx="6433926" cy="1783094"/>
          </a:xfrm>
        </p:grpSpPr>
        <p:sp>
          <p:nvSpPr>
            <p:cNvPr id="27" name="Freeform 27"/>
            <p:cNvSpPr/>
            <p:nvPr/>
          </p:nvSpPr>
          <p:spPr>
            <a:xfrm>
              <a:off x="3567246" y="0"/>
              <a:ext cx="757690" cy="788234"/>
            </a:xfrm>
            <a:custGeom>
              <a:avLst/>
              <a:gdLst/>
              <a:ahLst/>
              <a:cxnLst/>
              <a:rect l="l" t="t" r="r" b="b"/>
              <a:pathLst>
                <a:path w="757690" h="788234">
                  <a:moveTo>
                    <a:pt x="0" y="0"/>
                  </a:moveTo>
                  <a:lnTo>
                    <a:pt x="757690" y="0"/>
                  </a:lnTo>
                  <a:lnTo>
                    <a:pt x="757690" y="788234"/>
                  </a:lnTo>
                  <a:lnTo>
                    <a:pt x="0" y="788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99244"/>
              <a:ext cx="6433926" cy="1583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79"/>
                </a:lnSpc>
              </a:pPr>
              <a:r>
                <a:rPr lang="en-US" sz="341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Profitability</a:t>
              </a:r>
            </a:p>
            <a:p>
              <a:pPr algn="l">
                <a:lnSpc>
                  <a:spcPts val="4779"/>
                </a:lnSpc>
                <a:spcBef>
                  <a:spcPct val="0"/>
                </a:spcBef>
              </a:pPr>
              <a:r>
                <a:rPr lang="en-US" sz="341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Target population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600036" y="809587"/>
              <a:ext cx="757690" cy="788234"/>
            </a:xfrm>
            <a:custGeom>
              <a:avLst/>
              <a:gdLst/>
              <a:ahLst/>
              <a:cxnLst/>
              <a:rect l="l" t="t" r="r" b="b"/>
              <a:pathLst>
                <a:path w="757690" h="788234">
                  <a:moveTo>
                    <a:pt x="0" y="0"/>
                  </a:moveTo>
                  <a:lnTo>
                    <a:pt x="757690" y="0"/>
                  </a:lnTo>
                  <a:lnTo>
                    <a:pt x="757690" y="788234"/>
                  </a:lnTo>
                  <a:lnTo>
                    <a:pt x="0" y="788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9548" y="3688555"/>
            <a:ext cx="4983057" cy="97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7"/>
              </a:lnSpc>
            </a:pPr>
            <a:r>
              <a:rPr lang="en-US" sz="2755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Fitness influencer:</a:t>
            </a:r>
            <a:r>
              <a:rPr lang="en-US" sz="2755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Sissy.M </a:t>
            </a:r>
          </a:p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sz="2755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(1.3M followers)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5679" y="3723545"/>
            <a:ext cx="7142985" cy="474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sz="2755" b="1" dirty="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4 products: </a:t>
            </a:r>
            <a:r>
              <a:rPr lang="en-US" sz="2755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t-shirt, bra, leggings, shoes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24819" y="3723545"/>
            <a:ext cx="7142985" cy="49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sz="2755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 live</a:t>
            </a:r>
          </a:p>
        </p:txBody>
      </p:sp>
      <p:sp>
        <p:nvSpPr>
          <p:cNvPr id="6" name="AutoShape 6"/>
          <p:cNvSpPr/>
          <p:nvPr/>
        </p:nvSpPr>
        <p:spPr>
          <a:xfrm>
            <a:off x="5330955" y="4033745"/>
            <a:ext cx="59351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9727472" y="3995645"/>
            <a:ext cx="59351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320988" y="5279245"/>
            <a:ext cx="7142985" cy="4620425"/>
          </a:xfrm>
          <a:custGeom>
            <a:avLst/>
            <a:gdLst/>
            <a:ahLst/>
            <a:cxnLst/>
            <a:rect l="l" t="t" r="r" b="b"/>
            <a:pathLst>
              <a:path w="6719284" h="4342140">
                <a:moveTo>
                  <a:pt x="0" y="0"/>
                </a:moveTo>
                <a:lnTo>
                  <a:pt x="6719284" y="0"/>
                </a:lnTo>
                <a:lnTo>
                  <a:pt x="6719284" y="4342140"/>
                </a:lnTo>
                <a:lnTo>
                  <a:pt x="0" y="434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65" r="-16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765807" y="1170510"/>
            <a:ext cx="6756386" cy="97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</a:pPr>
            <a:r>
              <a:rPr lang="en-US" sz="57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CAMPAIGN DAY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08107" y="495801"/>
            <a:ext cx="5871786" cy="70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4"/>
              </a:lnSpc>
            </a:pPr>
            <a:r>
              <a:rPr lang="en-US" sz="41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ABOUT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20196" y="2128801"/>
            <a:ext cx="4247608" cy="55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7"/>
              </a:lnSpc>
              <a:spcBef>
                <a:spcPct val="0"/>
              </a:spcBef>
            </a:pPr>
            <a:r>
              <a:rPr lang="en-US" sz="30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September 4th, 2020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0475" y="6017766"/>
            <a:ext cx="6316013" cy="3556016"/>
            <a:chOff x="0" y="0"/>
            <a:chExt cx="1852200" cy="10633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2201" cy="1063394"/>
            </a:xfrm>
            <a:custGeom>
              <a:avLst/>
              <a:gdLst/>
              <a:ahLst/>
              <a:cxnLst/>
              <a:rect l="l" t="t" r="r" b="b"/>
              <a:pathLst>
                <a:path w="1852201" h="1063394">
                  <a:moveTo>
                    <a:pt x="63747" y="0"/>
                  </a:moveTo>
                  <a:lnTo>
                    <a:pt x="1788453" y="0"/>
                  </a:lnTo>
                  <a:cubicBezTo>
                    <a:pt x="1823660" y="0"/>
                    <a:pt x="1852201" y="28541"/>
                    <a:pt x="1852201" y="63747"/>
                  </a:cubicBezTo>
                  <a:lnTo>
                    <a:pt x="1852201" y="999647"/>
                  </a:lnTo>
                  <a:cubicBezTo>
                    <a:pt x="1852201" y="1034853"/>
                    <a:pt x="1823660" y="1063394"/>
                    <a:pt x="1788453" y="1063394"/>
                  </a:cubicBezTo>
                  <a:lnTo>
                    <a:pt x="63747" y="1063394"/>
                  </a:lnTo>
                  <a:cubicBezTo>
                    <a:pt x="28541" y="1063394"/>
                    <a:pt x="0" y="1034853"/>
                    <a:pt x="0" y="999647"/>
                  </a:cubicBezTo>
                  <a:lnTo>
                    <a:pt x="0" y="63747"/>
                  </a:lnTo>
                  <a:cubicBezTo>
                    <a:pt x="0" y="28541"/>
                    <a:pt x="28541" y="0"/>
                    <a:pt x="6374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52200" cy="1111019"/>
            </a:xfrm>
            <a:prstGeom prst="rect">
              <a:avLst/>
            </a:prstGeom>
          </p:spPr>
          <p:txBody>
            <a:bodyPr lIns="48458" tIns="48458" rIns="48458" bIns="4845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02896" y="6544625"/>
            <a:ext cx="2955201" cy="51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SALES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2683" y="8426496"/>
            <a:ext cx="4021954" cy="51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QUANTITY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2400" y="6543962"/>
            <a:ext cx="2550131" cy="565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562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361.46 K</a:t>
            </a:r>
            <a:r>
              <a:rPr lang="en-US" sz="32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€</a:t>
            </a:r>
            <a:endParaRPr lang="en-US" sz="3200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57029" y="8418764"/>
            <a:ext cx="1849460" cy="516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248"/>
              </a:lnSpc>
              <a:spcBef>
                <a:spcPct val="0"/>
              </a:spcBef>
            </a:pPr>
            <a:r>
              <a:rPr lang="en-US" sz="3034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7.70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692442" y="440870"/>
            <a:ext cx="6010613" cy="105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</a:pPr>
            <a:r>
              <a:rPr lang="en-US" sz="610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FINANCIAL KPI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031943" y="1364692"/>
            <a:ext cx="6724385" cy="72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4"/>
              </a:lnSpc>
            </a:pPr>
            <a:endParaRPr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1C3F68E0-5275-974E-4949-D0A995F55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440" y="1895475"/>
            <a:ext cx="11045120" cy="7399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8E41-60CE-F9D9-B6AF-B0767BC1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6DDBC0-C7A7-03A4-67E7-C3A730C9C1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7822404-ADA0-3758-8AFA-7CD2C1057419}"/>
              </a:ext>
            </a:extLst>
          </p:cNvPr>
          <p:cNvSpPr txBox="1"/>
          <p:nvPr/>
        </p:nvSpPr>
        <p:spPr>
          <a:xfrm>
            <a:off x="3749781" y="435719"/>
            <a:ext cx="9014158" cy="2142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</a:pPr>
            <a:r>
              <a:rPr lang="en-US" sz="610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DURING C</a:t>
            </a:r>
            <a:r>
              <a:rPr lang="fr-FR" sz="610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AMPAIGN DAY</a:t>
            </a:r>
            <a:endParaRPr lang="en-US" sz="6102" b="1" dirty="0">
              <a:solidFill>
                <a:srgbClr val="004AA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45545A-332A-7A7F-FAFE-7C17E1D84A2C}"/>
              </a:ext>
            </a:extLst>
          </p:cNvPr>
          <p:cNvSpPr txBox="1"/>
          <p:nvPr/>
        </p:nvSpPr>
        <p:spPr>
          <a:xfrm>
            <a:off x="-1031943" y="1364692"/>
            <a:ext cx="6724385" cy="72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4"/>
              </a:lnSpc>
            </a:pPr>
            <a:endParaRPr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E7BCE424-1A3F-87CA-76F3-22EE2EDF8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521" y="2552700"/>
            <a:ext cx="9894879" cy="683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4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49565" y="440870"/>
            <a:ext cx="12138687" cy="105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</a:pPr>
            <a:r>
              <a:rPr lang="en-US" sz="610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POPULATION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031943" y="1364692"/>
            <a:ext cx="6724385" cy="72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4"/>
              </a:lnSpc>
            </a:pPr>
            <a:endParaRPr/>
          </a:p>
        </p:txBody>
      </p:sp>
      <p:pic>
        <p:nvPicPr>
          <p:cNvPr id="7" name="Picture 6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DFF311C5-4E27-3AE2-1D42-DE9D5585B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658" y="1956196"/>
            <a:ext cx="10820684" cy="7272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009328"/>
            <a:ext cx="7087633" cy="2267991"/>
            <a:chOff x="0" y="0"/>
            <a:chExt cx="1866702" cy="597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702" cy="597331"/>
            </a:xfrm>
            <a:custGeom>
              <a:avLst/>
              <a:gdLst/>
              <a:ahLst/>
              <a:cxnLst/>
              <a:rect l="l" t="t" r="r" b="b"/>
              <a:pathLst>
                <a:path w="1866702" h="597331">
                  <a:moveTo>
                    <a:pt x="0" y="0"/>
                  </a:moveTo>
                  <a:lnTo>
                    <a:pt x="1866702" y="0"/>
                  </a:lnTo>
                  <a:lnTo>
                    <a:pt x="1866702" y="597331"/>
                  </a:lnTo>
                  <a:lnTo>
                    <a:pt x="0" y="597331"/>
                  </a:lnTo>
                  <a:close/>
                </a:path>
              </a:pathLst>
            </a:custGeom>
            <a:solidFill>
              <a:srgbClr val="E8EC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66702" cy="644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5691" y="4696272"/>
            <a:ext cx="3257745" cy="301625"/>
            <a:chOff x="0" y="0"/>
            <a:chExt cx="4343660" cy="402167"/>
          </a:xfrm>
        </p:grpSpPr>
        <p:sp>
          <p:nvSpPr>
            <p:cNvPr id="10" name="Freeform 10"/>
            <p:cNvSpPr/>
            <p:nvPr/>
          </p:nvSpPr>
          <p:spPr>
            <a:xfrm>
              <a:off x="0" y="35053"/>
              <a:ext cx="232442" cy="332060"/>
            </a:xfrm>
            <a:custGeom>
              <a:avLst/>
              <a:gdLst/>
              <a:ahLst/>
              <a:cxnLst/>
              <a:rect l="l" t="t" r="r" b="b"/>
              <a:pathLst>
                <a:path w="232442" h="332060">
                  <a:moveTo>
                    <a:pt x="0" y="0"/>
                  </a:moveTo>
                  <a:lnTo>
                    <a:pt x="232442" y="0"/>
                  </a:lnTo>
                  <a:lnTo>
                    <a:pt x="232442" y="332060"/>
                  </a:lnTo>
                  <a:lnTo>
                    <a:pt x="0" y="332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274" y="-57150"/>
              <a:ext cx="3992386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Auvergne-Rhône-Alpes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017732" y="0"/>
            <a:ext cx="8296394" cy="10627743"/>
          </a:xfrm>
          <a:custGeom>
            <a:avLst/>
            <a:gdLst/>
            <a:ahLst/>
            <a:cxnLst/>
            <a:rect l="l" t="t" r="r" b="b"/>
            <a:pathLst>
              <a:path w="8296394" h="10627743">
                <a:moveTo>
                  <a:pt x="0" y="0"/>
                </a:moveTo>
                <a:lnTo>
                  <a:pt x="8296394" y="0"/>
                </a:lnTo>
                <a:lnTo>
                  <a:pt x="8296394" y="10627743"/>
                </a:lnTo>
                <a:lnTo>
                  <a:pt x="0" y="10627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76" r="-59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777875"/>
            <a:ext cx="5898349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914400"/>
            <a:ext cx="6819972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REGIONAL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678602"/>
            <a:ext cx="7087633" cy="7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data highlights a major sales hotspot in Genas, east of Lyon.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208903"/>
            <a:ext cx="7087633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increase in demand may help Decathlon identify a few locations where we can run localized campaigns for the 4 products in the future.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691403"/>
            <a:ext cx="3130807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5691" y="3537015"/>
            <a:ext cx="2445068" cy="105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5"/>
              </a:lnSpc>
              <a:spcBef>
                <a:spcPct val="0"/>
              </a:spcBef>
            </a:pPr>
            <a:r>
              <a:rPr lang="en-US" sz="585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3833" y="3194871"/>
            <a:ext cx="5243709" cy="34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737373"/>
                </a:solidFill>
                <a:latin typeface="Poppins Bold"/>
                <a:ea typeface="Poppins Bold"/>
                <a:cs typeface="Poppins Bold"/>
                <a:sym typeface="Poppins Bold"/>
              </a:rPr>
              <a:t>Top Performing Commune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427751" y="5415320"/>
            <a:ext cx="5499429" cy="3989163"/>
          </a:xfrm>
          <a:custGeom>
            <a:avLst/>
            <a:gdLst/>
            <a:ahLst/>
            <a:cxnLst/>
            <a:rect l="l" t="t" r="r" b="b"/>
            <a:pathLst>
              <a:path w="5499429" h="3989163">
                <a:moveTo>
                  <a:pt x="0" y="0"/>
                </a:moveTo>
                <a:lnTo>
                  <a:pt x="5499429" y="0"/>
                </a:lnTo>
                <a:lnTo>
                  <a:pt x="5499429" y="3989163"/>
                </a:lnTo>
                <a:lnTo>
                  <a:pt x="0" y="3989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2931" t="-89519" r="-76336" b="-68335"/>
            </a:stretch>
          </a:blipFill>
          <a:ln w="28575" cap="sq">
            <a:solidFill>
              <a:srgbClr val="A5CFE5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427751" y="717442"/>
            <a:ext cx="5499429" cy="4114188"/>
          </a:xfrm>
          <a:custGeom>
            <a:avLst/>
            <a:gdLst/>
            <a:ahLst/>
            <a:cxnLst/>
            <a:rect l="l" t="t" r="r" b="b"/>
            <a:pathLst>
              <a:path w="5499429" h="4114188">
                <a:moveTo>
                  <a:pt x="0" y="0"/>
                </a:moveTo>
                <a:lnTo>
                  <a:pt x="5499429" y="0"/>
                </a:lnTo>
                <a:lnTo>
                  <a:pt x="5499429" y="4114187"/>
                </a:lnTo>
                <a:lnTo>
                  <a:pt x="0" y="4114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067" t="-84911" r="-78200" b="-65108"/>
            </a:stretch>
          </a:blipFill>
          <a:ln w="28575" cap="sq">
            <a:solidFill>
              <a:srgbClr val="A5CFE8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777875"/>
            <a:ext cx="5898349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14400"/>
            <a:ext cx="5634574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SALE CHANNEL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928393"/>
            <a:ext cx="7087633" cy="7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Before the campaign, sales were overwhelmingly dominated by physical stores.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817368"/>
            <a:ext cx="7087633" cy="7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During the event, the Online Store share grew to </a:t>
            </a:r>
            <a:r>
              <a:rPr lang="en-US" sz="2125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~40%</a:t>
            </a: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the total mix.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713191"/>
            <a:ext cx="7087633" cy="7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validates the strategy of using livestream influencers to drive immediate, direct-to-web traffic.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407836"/>
            <a:ext cx="3130807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From Offline to Online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195691"/>
            <a:ext cx="3130807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12062" y="4907587"/>
            <a:ext cx="3130807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spcBef>
                <a:spcPct val="0"/>
              </a:spcBef>
            </a:pPr>
            <a:r>
              <a:rPr lang="en-US" sz="2125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Before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12062" y="9469253"/>
            <a:ext cx="3130807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spcBef>
                <a:spcPct val="0"/>
              </a:spcBef>
            </a:pPr>
            <a:r>
              <a:rPr lang="en-US" sz="2125" b="1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During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194826" y="1777875"/>
            <a:ext cx="5898349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sz="5308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26713" y="914400"/>
            <a:ext cx="5634574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PRODUCTS</a:t>
            </a:r>
          </a:p>
        </p:txBody>
      </p:sp>
      <p:pic>
        <p:nvPicPr>
          <p:cNvPr id="9" name="Picture 8" descr="A screenshot of a screen&#10;&#10;AI-generated content may be incorrect.">
            <a:extLst>
              <a:ext uri="{FF2B5EF4-FFF2-40B4-BE49-F238E27FC236}">
                <a16:creationId xmlns:a16="http://schemas.microsoft.com/office/drawing/2014/main" id="{30DA4BA9-275F-FB3B-65F9-CFFEEEBDE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541565"/>
            <a:ext cx="12554821" cy="5589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952220" y="0"/>
            <a:ext cx="7570717" cy="10287000"/>
            <a:chOff x="0" y="0"/>
            <a:chExt cx="199393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93934" cy="2709333"/>
            </a:xfrm>
            <a:custGeom>
              <a:avLst/>
              <a:gdLst/>
              <a:ahLst/>
              <a:cxnLst/>
              <a:rect l="l" t="t" r="r" b="b"/>
              <a:pathLst>
                <a:path w="1993934" h="2709333">
                  <a:moveTo>
                    <a:pt x="0" y="0"/>
                  </a:moveTo>
                  <a:lnTo>
                    <a:pt x="1993934" y="0"/>
                  </a:lnTo>
                  <a:lnTo>
                    <a:pt x="19939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99393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17720" y="8740331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183045" y="3077153"/>
            <a:ext cx="6801542" cy="220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1"/>
              </a:lnSpc>
            </a:pPr>
            <a:r>
              <a:rPr lang="en-US" sz="42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  <a:p>
            <a:pPr algn="ctr">
              <a:lnSpc>
                <a:spcPts val="5891"/>
              </a:lnSpc>
            </a:pPr>
            <a:r>
              <a:rPr lang="en-US" sz="42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</a:t>
            </a:r>
          </a:p>
          <a:p>
            <a:pPr algn="ctr">
              <a:lnSpc>
                <a:spcPts val="5891"/>
              </a:lnSpc>
            </a:pPr>
            <a:r>
              <a:rPr lang="en-US" sz="42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92162" y="971550"/>
            <a:ext cx="9167933" cy="323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Performance remained above average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Campaign improved purchase value per customer (GenZ average spending increased)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Need more time to measure full 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15017" y="5635484"/>
            <a:ext cx="9543574" cy="432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Consider more measures to:</a:t>
            </a:r>
          </a:p>
          <a:p>
            <a:pPr algn="l">
              <a:lnSpc>
                <a:spcPts val="4340"/>
              </a:lnSpc>
            </a:pPr>
            <a:endParaRPr lang="en-US" sz="31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 more on GenZ clients</a:t>
            </a:r>
          </a:p>
          <a:p>
            <a:pPr algn="l">
              <a:lnSpc>
                <a:spcPts val="4340"/>
              </a:lnSpc>
            </a:pPr>
            <a:endParaRPr lang="en-US" sz="31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Increase sales in other regions in France</a:t>
            </a:r>
          </a:p>
          <a:p>
            <a:pPr algn="l">
              <a:lnSpc>
                <a:spcPts val="4340"/>
              </a:lnSpc>
            </a:pPr>
            <a:endParaRPr lang="en-US" sz="31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9291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Increase sales for the 3 other product categories</a:t>
            </a:r>
          </a:p>
          <a:p>
            <a:pPr algn="l">
              <a:lnSpc>
                <a:spcPts val="4340"/>
              </a:lnSpc>
            </a:pPr>
            <a:endParaRPr lang="en-US" sz="31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8140071"/>
            <a:ext cx="5410803" cy="3043577"/>
          </a:xfrm>
          <a:custGeom>
            <a:avLst/>
            <a:gdLst/>
            <a:ahLst/>
            <a:cxnLst/>
            <a:rect l="l" t="t" r="r" b="b"/>
            <a:pathLst>
              <a:path w="5410803" h="3043577">
                <a:moveTo>
                  <a:pt x="0" y="0"/>
                </a:moveTo>
                <a:lnTo>
                  <a:pt x="5410803" y="0"/>
                </a:lnTo>
                <a:lnTo>
                  <a:pt x="5410803" y="3043577"/>
                </a:lnTo>
                <a:lnTo>
                  <a:pt x="0" y="3043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933297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08107" y="4380778"/>
            <a:ext cx="5871786" cy="62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236</Words>
  <Application>Microsoft Office PowerPoint</Application>
  <PresentationFormat>Custom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</vt:lpstr>
      <vt:lpstr>Roboto</vt:lpstr>
      <vt:lpstr>Arial</vt:lpstr>
      <vt:lpstr>Gagalin</vt:lpstr>
      <vt:lpstr>Chunk Five</vt:lpstr>
      <vt:lpstr>Poppins</vt:lpstr>
      <vt:lpstr>Poppins Bold</vt:lpstr>
      <vt:lpstr>Open Sans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>Source</dc:creator>
  <cp:lastModifiedBy>HMIDA Alma</cp:lastModifiedBy>
  <cp:revision>6</cp:revision>
  <dcterms:created xsi:type="dcterms:W3CDTF">2006-08-16T00:00:00Z</dcterms:created>
  <dcterms:modified xsi:type="dcterms:W3CDTF">2025-11-24T13:41:43Z</dcterms:modified>
  <dc:identifier>DAG5hGdYFVI</dc:identifier>
</cp:coreProperties>
</file>